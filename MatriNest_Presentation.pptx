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56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3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7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— introduce team members and project name. One slide, 60 seconds 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 briefly — 7 sections, about 20 minutes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'fragmentation' pain point — this is why mothers use MatriNest rather than existing apps.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MatriNest is the parent brand; MamaNest and BabyNest are the two product lines within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clean separation between the users app (auth/profile) and myapp (domain logic). SQLite in dev, easy to swap for PostgreSQL when deploying.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that admin is NEVER assigned through the signup form — this is a deliberate security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module maps to a Django model + view + URL. Walk through one example (e.g. appointment booking)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models are in myapp/models.py except CustomUser which lives in users/models.py.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subscription model is the primary long-term revenue driver. Commission is the launch revenue while the user base is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differentiator is the integration — every competitor covers one slice; MatriNest covers the whole journey.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is complete and running locally. Phase 2 is the next sprint — subscription billing is the highest-priority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live demo if possible — show signup as patient, book an appointment, log a health record. 3 minutes 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5029200" cy="5029200"/>
          </a:xfrm>
          <a:prstGeom prst="ellipse">
            <a:avLst/>
          </a:prstGeom>
          <a:solidFill>
            <a:srgbClr val="C2566B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766560" y="-365760"/>
            <a:ext cx="3840480" cy="3840480"/>
          </a:xfrm>
          <a:prstGeom prst="ellipse">
            <a:avLst/>
          </a:prstGeom>
          <a:solidFill>
            <a:srgbClr val="C2566B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06640" y="274320"/>
            <a:ext cx="2560320" cy="2560320"/>
          </a:xfrm>
          <a:prstGeom prst="ellipse">
            <a:avLst/>
          </a:prstGeom>
          <a:solidFill>
            <a:srgbClr val="C2566B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মাতৃNest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39" y="1463040"/>
            <a:ext cx="74666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F4D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 Nest Every Mom and Baby Deserve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39" y="2148839"/>
            <a:ext cx="7380923" cy="45719"/>
          </a:xfrm>
          <a:prstGeom prst="rect">
            <a:avLst/>
          </a:prstGeom>
          <a:solidFill>
            <a:srgbClr val="DDA15E"/>
          </a:solidFill>
          <a:ln w="12700">
            <a:solidFill>
              <a:srgbClr val="DDA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4D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Project Report  ·  </a:t>
            </a:r>
            <a:r>
              <a:rPr lang="en-US" sz="2800" b="1" dirty="0">
                <a:solidFill>
                  <a:srgbClr val="DD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Trinity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30066" y="3150394"/>
            <a:ext cx="2763203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9B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Tanjina Akter Nisa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C9B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</a:t>
            </a:r>
            <a:r>
              <a:rPr lang="en-US" sz="2400" dirty="0" err="1">
                <a:solidFill>
                  <a:srgbClr val="C9B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Daudul</a:t>
            </a:r>
            <a:r>
              <a:rPr lang="en-US" sz="2400" dirty="0">
                <a:solidFill>
                  <a:srgbClr val="C9B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Islam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C9B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Saswata Ghosal</a:t>
            </a:r>
          </a:p>
        </p:txBody>
      </p:sp>
      <p:sp>
        <p:nvSpPr>
          <p:cNvPr id="10" name="Text 8"/>
          <p:cNvSpPr/>
          <p:nvPr/>
        </p:nvSpPr>
        <p:spPr>
          <a:xfrm>
            <a:off x="548640" y="4476274"/>
            <a:ext cx="172307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9B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D013C2-655C-0FE7-EB89-5B8AB6ED6895}"/>
              </a:ext>
            </a:extLst>
          </p:cNvPr>
          <p:cNvSpPr txBox="1"/>
          <p:nvPr/>
        </p:nvSpPr>
        <p:spPr>
          <a:xfrm>
            <a:off x="2728911" y="4764197"/>
            <a:ext cx="65579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9B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Asia Pacific. Department of Computer Science and Engineering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1096135"/>
            <a:ext cx="7133706" cy="378091"/>
          </a:xfrm>
          <a:prstGeom prst="rect">
            <a:avLst/>
          </a:prstGeom>
          <a:solidFill>
            <a:srgbClr val="FFFFFF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4799" y="1126206"/>
            <a:ext cx="2171700" cy="274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741326" y="1096136"/>
            <a:ext cx="4123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maternal care needs a better solution</a:t>
            </a:r>
            <a:endParaRPr lang="en-US" sz="1400" dirty="0"/>
          </a:p>
        </p:txBody>
      </p:sp>
      <p:sp>
        <p:nvSpPr>
          <p:cNvPr id="41" name="Rectangle: Diagonal Corners Rounded 40">
            <a:extLst>
              <a:ext uri="{FF2B5EF4-FFF2-40B4-BE49-F238E27FC236}">
                <a16:creationId xmlns:a16="http://schemas.microsoft.com/office/drawing/2014/main" id="{788C93AD-E11D-2997-F4D1-EFD6304ACB57}"/>
              </a:ext>
            </a:extLst>
          </p:cNvPr>
          <p:cNvSpPr/>
          <p:nvPr/>
        </p:nvSpPr>
        <p:spPr>
          <a:xfrm>
            <a:off x="586258" y="244223"/>
            <a:ext cx="1174391" cy="529498"/>
          </a:xfrm>
          <a:prstGeom prst="round2DiagRect">
            <a:avLst/>
          </a:prstGeom>
          <a:solidFill>
            <a:srgbClr val="C2566B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/>
              <a:t>Agenda</a:t>
            </a:r>
          </a:p>
        </p:txBody>
      </p:sp>
      <p:sp>
        <p:nvSpPr>
          <p:cNvPr id="44" name="Shape 1">
            <a:extLst>
              <a:ext uri="{FF2B5EF4-FFF2-40B4-BE49-F238E27FC236}">
                <a16:creationId xmlns:a16="http://schemas.microsoft.com/office/drawing/2014/main" id="{5305A944-FEFD-6E5C-7C0A-36826E4BE0A6}"/>
              </a:ext>
            </a:extLst>
          </p:cNvPr>
          <p:cNvSpPr/>
          <p:nvPr/>
        </p:nvSpPr>
        <p:spPr>
          <a:xfrm>
            <a:off x="560784" y="1599734"/>
            <a:ext cx="7133707" cy="397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5" name="Text 3">
            <a:extLst>
              <a:ext uri="{FF2B5EF4-FFF2-40B4-BE49-F238E27FC236}">
                <a16:creationId xmlns:a16="http://schemas.microsoft.com/office/drawing/2014/main" id="{57D3E655-4A2B-F85F-014A-971920C01814}"/>
              </a:ext>
            </a:extLst>
          </p:cNvPr>
          <p:cNvSpPr/>
          <p:nvPr/>
        </p:nvSpPr>
        <p:spPr>
          <a:xfrm>
            <a:off x="674799" y="1634820"/>
            <a:ext cx="2171700" cy="274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dirty="0"/>
          </a:p>
        </p:txBody>
      </p:sp>
      <p:sp>
        <p:nvSpPr>
          <p:cNvPr id="46" name="Text 4">
            <a:extLst>
              <a:ext uri="{FF2B5EF4-FFF2-40B4-BE49-F238E27FC236}">
                <a16:creationId xmlns:a16="http://schemas.microsoft.com/office/drawing/2014/main" id="{AA1121E1-F28D-6F6C-2C9D-5C69775DD251}"/>
              </a:ext>
            </a:extLst>
          </p:cNvPr>
          <p:cNvSpPr/>
          <p:nvPr/>
        </p:nvSpPr>
        <p:spPr>
          <a:xfrm>
            <a:off x="3753471" y="1606105"/>
            <a:ext cx="4123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MamaNest</a:t>
            </a:r>
            <a:r>
              <a:rPr lang="en-US" sz="140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400" dirty="0" err="1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BabyNest</a:t>
            </a:r>
            <a:r>
              <a:rPr lang="en-US" sz="140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two care lines</a:t>
            </a:r>
            <a:endParaRPr lang="en-US" sz="1400" dirty="0"/>
          </a:p>
        </p:txBody>
      </p:sp>
      <p:sp>
        <p:nvSpPr>
          <p:cNvPr id="48" name="Shape 1">
            <a:extLst>
              <a:ext uri="{FF2B5EF4-FFF2-40B4-BE49-F238E27FC236}">
                <a16:creationId xmlns:a16="http://schemas.microsoft.com/office/drawing/2014/main" id="{7DAED706-408C-741E-4790-3F8726CFB412}"/>
              </a:ext>
            </a:extLst>
          </p:cNvPr>
          <p:cNvSpPr/>
          <p:nvPr/>
        </p:nvSpPr>
        <p:spPr>
          <a:xfrm>
            <a:off x="564353" y="2136374"/>
            <a:ext cx="7117993" cy="397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Text 3">
            <a:extLst>
              <a:ext uri="{FF2B5EF4-FFF2-40B4-BE49-F238E27FC236}">
                <a16:creationId xmlns:a16="http://schemas.microsoft.com/office/drawing/2014/main" id="{C40A0F96-2C3A-214D-3D8A-D424EFBF8C54}"/>
              </a:ext>
            </a:extLst>
          </p:cNvPr>
          <p:cNvSpPr/>
          <p:nvPr/>
        </p:nvSpPr>
        <p:spPr>
          <a:xfrm>
            <a:off x="674799" y="2185431"/>
            <a:ext cx="2171700" cy="274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dirty="0"/>
          </a:p>
        </p:txBody>
      </p:sp>
      <p:sp>
        <p:nvSpPr>
          <p:cNvPr id="50" name="Text 4">
            <a:extLst>
              <a:ext uri="{FF2B5EF4-FFF2-40B4-BE49-F238E27FC236}">
                <a16:creationId xmlns:a16="http://schemas.microsoft.com/office/drawing/2014/main" id="{8DB99AF6-25B9-6CF9-C32E-A1DD5318023E}"/>
              </a:ext>
            </a:extLst>
          </p:cNvPr>
          <p:cNvSpPr/>
          <p:nvPr/>
        </p:nvSpPr>
        <p:spPr>
          <a:xfrm>
            <a:off x="3757040" y="2136373"/>
            <a:ext cx="4123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stack, Django apps, role-based access</a:t>
            </a:r>
            <a:endParaRPr lang="en-US" sz="1400" dirty="0"/>
          </a:p>
        </p:txBody>
      </p:sp>
      <p:sp>
        <p:nvSpPr>
          <p:cNvPr id="51" name="Shape 1">
            <a:extLst>
              <a:ext uri="{FF2B5EF4-FFF2-40B4-BE49-F238E27FC236}">
                <a16:creationId xmlns:a16="http://schemas.microsoft.com/office/drawing/2014/main" id="{F803DC25-64AF-D88B-2621-A4E72849C11C}"/>
              </a:ext>
            </a:extLst>
          </p:cNvPr>
          <p:cNvSpPr/>
          <p:nvPr/>
        </p:nvSpPr>
        <p:spPr>
          <a:xfrm>
            <a:off x="555718" y="2702168"/>
            <a:ext cx="7138774" cy="397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Text 3">
            <a:extLst>
              <a:ext uri="{FF2B5EF4-FFF2-40B4-BE49-F238E27FC236}">
                <a16:creationId xmlns:a16="http://schemas.microsoft.com/office/drawing/2014/main" id="{35A2B5A0-FA3C-6D5B-D54F-3D322B8EA680}"/>
              </a:ext>
            </a:extLst>
          </p:cNvPr>
          <p:cNvSpPr/>
          <p:nvPr/>
        </p:nvSpPr>
        <p:spPr>
          <a:xfrm>
            <a:off x="674799" y="2754065"/>
            <a:ext cx="2171700" cy="274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dirty="0"/>
          </a:p>
        </p:txBody>
      </p:sp>
      <p:sp>
        <p:nvSpPr>
          <p:cNvPr id="53" name="Text 4">
            <a:extLst>
              <a:ext uri="{FF2B5EF4-FFF2-40B4-BE49-F238E27FC236}">
                <a16:creationId xmlns:a16="http://schemas.microsoft.com/office/drawing/2014/main" id="{EFEBB7E5-CA0E-5804-F2A4-7372AFCBEA76}"/>
              </a:ext>
            </a:extLst>
          </p:cNvPr>
          <p:cNvSpPr/>
          <p:nvPr/>
        </p:nvSpPr>
        <p:spPr>
          <a:xfrm>
            <a:off x="3748403" y="2717778"/>
            <a:ext cx="47983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Medicines, Appointments, Health Tracking</a:t>
            </a:r>
            <a:endParaRPr lang="en-US" sz="1400" dirty="0"/>
          </a:p>
        </p:txBody>
      </p:sp>
      <p:sp>
        <p:nvSpPr>
          <p:cNvPr id="54" name="Shape 1">
            <a:extLst>
              <a:ext uri="{FF2B5EF4-FFF2-40B4-BE49-F238E27FC236}">
                <a16:creationId xmlns:a16="http://schemas.microsoft.com/office/drawing/2014/main" id="{F536AC5C-F81C-BE94-2B80-C77877A570AC}"/>
              </a:ext>
            </a:extLst>
          </p:cNvPr>
          <p:cNvSpPr/>
          <p:nvPr/>
        </p:nvSpPr>
        <p:spPr>
          <a:xfrm>
            <a:off x="548639" y="3227613"/>
            <a:ext cx="7145854" cy="397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5" name="Text 3">
            <a:extLst>
              <a:ext uri="{FF2B5EF4-FFF2-40B4-BE49-F238E27FC236}">
                <a16:creationId xmlns:a16="http://schemas.microsoft.com/office/drawing/2014/main" id="{3623BF2A-7100-8278-9155-9FC93579D5DC}"/>
              </a:ext>
            </a:extLst>
          </p:cNvPr>
          <p:cNvSpPr/>
          <p:nvPr/>
        </p:nvSpPr>
        <p:spPr>
          <a:xfrm>
            <a:off x="674799" y="3304312"/>
            <a:ext cx="2171700" cy="274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dirty="0"/>
          </a:p>
        </p:txBody>
      </p:sp>
      <p:sp>
        <p:nvSpPr>
          <p:cNvPr id="56" name="Text 4">
            <a:extLst>
              <a:ext uri="{FF2B5EF4-FFF2-40B4-BE49-F238E27FC236}">
                <a16:creationId xmlns:a16="http://schemas.microsoft.com/office/drawing/2014/main" id="{B7135C1A-8EB1-DA09-C98E-156F7B8AE012}"/>
              </a:ext>
            </a:extLst>
          </p:cNvPr>
          <p:cNvSpPr/>
          <p:nvPr/>
        </p:nvSpPr>
        <p:spPr>
          <a:xfrm>
            <a:off x="3741325" y="3242254"/>
            <a:ext cx="45739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streams, market, competitor analysis</a:t>
            </a:r>
            <a:endParaRPr lang="en-US" sz="1400" dirty="0"/>
          </a:p>
        </p:txBody>
      </p:sp>
      <p:sp>
        <p:nvSpPr>
          <p:cNvPr id="57" name="Shape 1">
            <a:extLst>
              <a:ext uri="{FF2B5EF4-FFF2-40B4-BE49-F238E27FC236}">
                <a16:creationId xmlns:a16="http://schemas.microsoft.com/office/drawing/2014/main" id="{8C4DBE77-1974-3F78-C39F-85E826B590EB}"/>
              </a:ext>
            </a:extLst>
          </p:cNvPr>
          <p:cNvSpPr/>
          <p:nvPr/>
        </p:nvSpPr>
        <p:spPr>
          <a:xfrm>
            <a:off x="544296" y="3756955"/>
            <a:ext cx="7150198" cy="397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8" name="Text 3">
            <a:extLst>
              <a:ext uri="{FF2B5EF4-FFF2-40B4-BE49-F238E27FC236}">
                <a16:creationId xmlns:a16="http://schemas.microsoft.com/office/drawing/2014/main" id="{60833581-C0CF-10EB-BDD3-16563DC0964A}"/>
              </a:ext>
            </a:extLst>
          </p:cNvPr>
          <p:cNvSpPr/>
          <p:nvPr/>
        </p:nvSpPr>
        <p:spPr>
          <a:xfrm>
            <a:off x="674799" y="3765979"/>
            <a:ext cx="2625473" cy="397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Walk-through</a:t>
            </a:r>
            <a:endParaRPr lang="en-US" dirty="0"/>
          </a:p>
        </p:txBody>
      </p:sp>
      <p:sp>
        <p:nvSpPr>
          <p:cNvPr id="59" name="Text 4">
            <a:extLst>
              <a:ext uri="{FF2B5EF4-FFF2-40B4-BE49-F238E27FC236}">
                <a16:creationId xmlns:a16="http://schemas.microsoft.com/office/drawing/2014/main" id="{1247C9D6-658A-F135-96CA-61012493A475}"/>
              </a:ext>
            </a:extLst>
          </p:cNvPr>
          <p:cNvSpPr/>
          <p:nvPr/>
        </p:nvSpPr>
        <p:spPr>
          <a:xfrm>
            <a:off x="3757040" y="3756954"/>
            <a:ext cx="4123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user flows — patient, doctor, admin</a:t>
            </a:r>
            <a:endParaRPr lang="en-US" sz="1400" dirty="0"/>
          </a:p>
        </p:txBody>
      </p:sp>
      <p:sp>
        <p:nvSpPr>
          <p:cNvPr id="60" name="Shape 1">
            <a:extLst>
              <a:ext uri="{FF2B5EF4-FFF2-40B4-BE49-F238E27FC236}">
                <a16:creationId xmlns:a16="http://schemas.microsoft.com/office/drawing/2014/main" id="{738E2C2C-C15D-B174-9102-A848DDF15A83}"/>
              </a:ext>
            </a:extLst>
          </p:cNvPr>
          <p:cNvSpPr/>
          <p:nvPr/>
        </p:nvSpPr>
        <p:spPr>
          <a:xfrm>
            <a:off x="560783" y="4292361"/>
            <a:ext cx="7133711" cy="397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1" name="Text 3">
            <a:extLst>
              <a:ext uri="{FF2B5EF4-FFF2-40B4-BE49-F238E27FC236}">
                <a16:creationId xmlns:a16="http://schemas.microsoft.com/office/drawing/2014/main" id="{6EF5859E-3F6F-6CF9-35DF-D28B601C192A}"/>
              </a:ext>
            </a:extLst>
          </p:cNvPr>
          <p:cNvSpPr/>
          <p:nvPr/>
        </p:nvSpPr>
        <p:spPr>
          <a:xfrm>
            <a:off x="674799" y="4283416"/>
            <a:ext cx="2527602" cy="397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Conclusion</a:t>
            </a:r>
            <a:endParaRPr lang="en-US" dirty="0"/>
          </a:p>
        </p:txBody>
      </p:sp>
      <p:sp>
        <p:nvSpPr>
          <p:cNvPr id="62" name="Text 4">
            <a:extLst>
              <a:ext uri="{FF2B5EF4-FFF2-40B4-BE49-F238E27FC236}">
                <a16:creationId xmlns:a16="http://schemas.microsoft.com/office/drawing/2014/main" id="{5DC34BE3-64DB-E5F1-BD0E-C9CEE936CCF1}"/>
              </a:ext>
            </a:extLst>
          </p:cNvPr>
          <p:cNvSpPr/>
          <p:nvPr/>
        </p:nvSpPr>
        <p:spPr>
          <a:xfrm>
            <a:off x="3741326" y="4292361"/>
            <a:ext cx="47983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plan and key takeaways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81257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Maternal and child care in Bangladesh is fragmented, inaccessible, and stressful.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384074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42660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61872" y="144351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A23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access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61872" y="185956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Doctors, pharmacies, ambulances and mental health support are all separate — mothers juggle 5+ apps and phone numbers.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00600" y="1384074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65192" y="142979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13832" y="144766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A23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tracking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513832" y="185956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 health data (weight, BP, glucose) lives in paper notebooks that get lost, not in a searchable personal record.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075714"/>
            <a:ext cx="3931920" cy="1579413"/>
          </a:xfrm>
          <a:prstGeom prst="rect">
            <a:avLst/>
          </a:prstGeom>
          <a:solidFill>
            <a:srgbClr val="FFFFFF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" y="3123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👨‍👩‍👧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61872" y="3146511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A23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support system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61872" y="3551202"/>
            <a:ext cx="3063240" cy="93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families in urban Dhaka often lack the built-in guidance of extended family — first-time mothers are left to figure it out alone.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00600" y="3075714"/>
            <a:ext cx="3931920" cy="1579413"/>
          </a:xfrm>
          <a:prstGeom prst="rect">
            <a:avLst/>
          </a:prstGeom>
          <a:solidFill>
            <a:srgbClr val="FFFFFF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65192" y="307571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13832" y="3146511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A23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gaps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513832" y="3551202"/>
            <a:ext cx="3063240" cy="779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an ambulance or sending an SOS during a pregnancy emergency requires multiple phone calls under acute stress.</a:t>
            </a:r>
            <a:endParaRPr lang="en-US" sz="1400" dirty="0"/>
          </a:p>
        </p:txBody>
      </p:sp>
      <p:sp>
        <p:nvSpPr>
          <p:cNvPr id="21" name="Rectangle: Diagonal Corners Rounded 20">
            <a:extLst>
              <a:ext uri="{FF2B5EF4-FFF2-40B4-BE49-F238E27FC236}">
                <a16:creationId xmlns:a16="http://schemas.microsoft.com/office/drawing/2014/main" id="{2E1C600E-37C3-CFAF-F0A8-129202882213}"/>
              </a:ext>
            </a:extLst>
          </p:cNvPr>
          <p:cNvSpPr/>
          <p:nvPr/>
        </p:nvSpPr>
        <p:spPr>
          <a:xfrm>
            <a:off x="564353" y="257177"/>
            <a:ext cx="1894829" cy="529498"/>
          </a:xfrm>
          <a:prstGeom prst="round2DiagRect">
            <a:avLst/>
          </a:prstGeom>
          <a:solidFill>
            <a:srgbClr val="C2566B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868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4D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</a:t>
            </a:r>
            <a:r>
              <a:rPr lang="en-US" i="1" dirty="0">
                <a:solidFill>
                  <a:srgbClr val="F4D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</a:t>
            </a:r>
            <a:r>
              <a:rPr lang="en-US" sz="1400" i="1" dirty="0">
                <a:solidFill>
                  <a:srgbClr val="F4D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care lines. Every stage of the journey.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3246120"/>
          </a:xfrm>
          <a:prstGeom prst="rect">
            <a:avLst/>
          </a:prstGeom>
          <a:solidFill>
            <a:srgbClr val="3D2530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00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25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🤱  MamaNest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848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4D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 &amp; postpartum support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2487168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B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appointments (5 specializations)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834640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B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corner &amp; delivery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3182112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B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tracking (BP, weight, glucose)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3529584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B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wellness sessions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3877056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B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&amp; SOS emergency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4224528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B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a nurse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463040"/>
            <a:ext cx="3931920" cy="3246120"/>
          </a:xfrm>
          <a:prstGeom prst="rect">
            <a:avLst/>
          </a:prstGeom>
          <a:solidFill>
            <a:srgbClr val="3D2530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600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FA8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👶  BabyNest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20848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8C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Newborn &amp; early-childhood care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02352" y="2487168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B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 doctor appointments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02352" y="2834640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B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 medicine corner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02352" y="3182112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B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weight tracking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02352" y="3529584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B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schedule reminders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02352" y="3877056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B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support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02352" y="4224528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B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&amp; nutrition guidance</a:t>
            </a:r>
            <a:endParaRPr lang="en-US" sz="1400" dirty="0"/>
          </a:p>
        </p:txBody>
      </p:sp>
      <p:sp>
        <p:nvSpPr>
          <p:cNvPr id="25" name="Rectangle: Diagonal Corners Rounded 24">
            <a:extLst>
              <a:ext uri="{FF2B5EF4-FFF2-40B4-BE49-F238E27FC236}">
                <a16:creationId xmlns:a16="http://schemas.microsoft.com/office/drawing/2014/main" id="{029DF093-A7DF-1EDC-41C2-230F0F7013B3}"/>
              </a:ext>
            </a:extLst>
          </p:cNvPr>
          <p:cNvSpPr/>
          <p:nvPr/>
        </p:nvSpPr>
        <p:spPr>
          <a:xfrm>
            <a:off x="564353" y="257177"/>
            <a:ext cx="1908683" cy="529498"/>
          </a:xfrm>
          <a:prstGeom prst="round2DiagRect">
            <a:avLst/>
          </a:prstGeom>
          <a:solidFill>
            <a:srgbClr val="C2566B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2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0" y="1051560"/>
            <a:ext cx="6961909" cy="640080"/>
          </a:xfrm>
          <a:prstGeom prst="rect">
            <a:avLst/>
          </a:prstGeom>
          <a:solidFill>
            <a:srgbClr val="F4DFE2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A23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286000" y="117043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(custom design system)  ·  Django Templates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01368"/>
            <a:ext cx="6961909" cy="640080"/>
          </a:xfrm>
          <a:prstGeom prst="rect">
            <a:avLst/>
          </a:prstGeom>
          <a:solidFill>
            <a:srgbClr val="E8F0E6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9202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E8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86000" y="19202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 ·  Django 5.2  ·  Django ORM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51176"/>
            <a:ext cx="6961909" cy="640080"/>
          </a:xfrm>
          <a:prstGeom prst="rect">
            <a:avLst/>
          </a:prstGeom>
          <a:solidFill>
            <a:srgbClr val="FDF3E7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6700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B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Layer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286000" y="267004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User Model  ·  Email Backend  ·  Role-based Decorators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300984"/>
            <a:ext cx="6961909" cy="640080"/>
          </a:xfrm>
          <a:prstGeom prst="rect">
            <a:avLst/>
          </a:prstGeom>
          <a:solidFill>
            <a:srgbClr val="EEE8F0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41985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B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286000" y="341985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(dev)  →  PostgreSQL (production)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050792"/>
            <a:ext cx="6961909" cy="640080"/>
          </a:xfrm>
          <a:prstGeom prst="rect">
            <a:avLst/>
          </a:prstGeom>
          <a:solidFill>
            <a:srgbClr val="E8EEF0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416966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Media/Files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286000" y="416966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 ·  MEDIA_ROOT / STATIC_ROOT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" y="52303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users/  — CustomUser · EmailBackend · Profile · Auth views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19472" y="52303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myapp/  — Medicine · Appointment · HealthRecord · Service views</a:t>
            </a:r>
            <a:endParaRPr lang="en-US" sz="1050" dirty="0"/>
          </a:p>
        </p:txBody>
      </p:sp>
      <p:sp>
        <p:nvSpPr>
          <p:cNvPr id="24" name="Rectangle: Diagonal Corners Rounded 23">
            <a:extLst>
              <a:ext uri="{FF2B5EF4-FFF2-40B4-BE49-F238E27FC236}">
                <a16:creationId xmlns:a16="http://schemas.microsoft.com/office/drawing/2014/main" id="{66309E5B-C605-1BB3-1A77-8F6C7B416073}"/>
              </a:ext>
            </a:extLst>
          </p:cNvPr>
          <p:cNvSpPr/>
          <p:nvPr/>
        </p:nvSpPr>
        <p:spPr>
          <a:xfrm>
            <a:off x="564353" y="257177"/>
            <a:ext cx="2843866" cy="529498"/>
          </a:xfrm>
          <a:prstGeom prst="round2DiagRect">
            <a:avLst/>
          </a:prstGeom>
          <a:solidFill>
            <a:srgbClr val="C2566B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16109" y="1085090"/>
            <a:ext cx="2697480" cy="3750426"/>
          </a:xfrm>
          <a:prstGeom prst="rect">
            <a:avLst/>
          </a:prstGeom>
          <a:solidFill>
            <a:srgbClr val="F3EEF5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1604" y="110448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🛠️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4232" y="11454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A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7220" y="1631512"/>
            <a:ext cx="2377440" cy="28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</a:t>
            </a:r>
            <a:r>
              <a:rPr lang="en-US" sz="1000" i="1" dirty="0" err="1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createsuperuseror</a:t>
            </a:r>
            <a:r>
              <a:rPr lang="en-US" sz="1000" i="1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Django admin panel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(never public signup)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4352" y="2009741"/>
            <a:ext cx="2590328" cy="47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Django /admin/ panel access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546054"/>
            <a:ext cx="2590328" cy="47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/ Delete all medicines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3807" y="3082367"/>
            <a:ext cx="2590328" cy="55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appointments &amp; health records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4352" y="3695986"/>
            <a:ext cx="2532888" cy="478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every user account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4352" y="4232297"/>
            <a:ext cx="2416273" cy="47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every page in the system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55848" y="1119450"/>
            <a:ext cx="2697480" cy="3750426"/>
          </a:xfrm>
          <a:prstGeom prst="rect">
            <a:avLst/>
          </a:prstGeom>
          <a:solidFill>
            <a:srgbClr val="EDF4EC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538728" y="115533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🩺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076285" y="11454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E8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551198" y="1597016"/>
            <a:ext cx="2377440" cy="296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at signup</a:t>
            </a:r>
            <a:r>
              <a:rPr lang="en-US" sz="1000" dirty="0"/>
              <a:t> </a:t>
            </a:r>
            <a:r>
              <a:rPr lang="en-US" sz="1000" i="1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(user_type = 'doctor')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09357" y="1984454"/>
            <a:ext cx="2395728" cy="536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full appointment queue (read-only)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38728" y="2486753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medicine corner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60342" y="3070346"/>
            <a:ext cx="2502130" cy="564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ambulance/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emergency/nurse pages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51198" y="3701043"/>
            <a:ext cx="2520418" cy="47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add or edit medicines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06724" y="4279401"/>
            <a:ext cx="2546604" cy="523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view patients' health records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54496" y="1119450"/>
            <a:ext cx="2697480" cy="3750426"/>
          </a:xfrm>
          <a:prstGeom prst="rect">
            <a:avLst/>
          </a:prstGeom>
          <a:solidFill>
            <a:srgbClr val="FBF0F2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19088" y="114951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🤰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54012" y="114951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A23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92794" y="1608375"/>
            <a:ext cx="2377440" cy="285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role(user_type = 'patient')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74506" y="2004615"/>
            <a:ext cx="2395728" cy="502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&amp; view their OWN appointments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74506" y="261248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/>
              <a:t>Log &amp; view their OWN health data</a:t>
            </a:r>
          </a:p>
        </p:txBody>
      </p:sp>
      <p:sp>
        <p:nvSpPr>
          <p:cNvPr id="28" name="Text 26"/>
          <p:cNvSpPr/>
          <p:nvPr/>
        </p:nvSpPr>
        <p:spPr>
          <a:xfrm>
            <a:off x="6492794" y="307156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/>
              <a:t>Browse medicine corner</a:t>
            </a:r>
          </a:p>
        </p:txBody>
      </p:sp>
      <p:sp>
        <p:nvSpPr>
          <p:cNvPr id="29" name="Text 27"/>
          <p:cNvSpPr/>
          <p:nvPr/>
        </p:nvSpPr>
        <p:spPr>
          <a:xfrm>
            <a:off x="6492794" y="3616601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all service pages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92794" y="4236101"/>
            <a:ext cx="2395728" cy="502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add/edit/delete medicines</a:t>
            </a:r>
            <a:endParaRPr lang="en-US" sz="1400" dirty="0"/>
          </a:p>
        </p:txBody>
      </p:sp>
      <p:sp>
        <p:nvSpPr>
          <p:cNvPr id="33" name="Rectangle: Diagonal Corners Rounded 32">
            <a:extLst>
              <a:ext uri="{FF2B5EF4-FFF2-40B4-BE49-F238E27FC236}">
                <a16:creationId xmlns:a16="http://schemas.microsoft.com/office/drawing/2014/main" id="{BC80D655-B2A5-14B9-2709-758D6612A903}"/>
              </a:ext>
            </a:extLst>
          </p:cNvPr>
          <p:cNvSpPr/>
          <p:nvPr/>
        </p:nvSpPr>
        <p:spPr>
          <a:xfrm>
            <a:off x="564352" y="257177"/>
            <a:ext cx="3647430" cy="529498"/>
          </a:xfrm>
          <a:prstGeom prst="round2DiagRect">
            <a:avLst/>
          </a:prstGeom>
          <a:solidFill>
            <a:srgbClr val="C2566B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 Control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270163" y="892232"/>
            <a:ext cx="4191002" cy="1302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615" y="89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83395" y="91966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A23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64800" y="1377419"/>
            <a:ext cx="3504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user model (AbstractUser), email-based login, auto-created UserProfile on signup, separate patient/doctor signup paths.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82835" y="892232"/>
            <a:ext cx="4191001" cy="1302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74860" y="8963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💊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96068" y="917447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A23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Corner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276365" y="1290899"/>
            <a:ext cx="3563666" cy="8070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CRUD: list, detail, add, update, delete. Image upload via Pillow. Admin-only write access. Open to all logged-in users for browsing.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0163" y="2295420"/>
            <a:ext cx="4191002" cy="1302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615" y="22722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🩺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78823" y="233698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A23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64800" y="2741401"/>
            <a:ext cx="3504368" cy="821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book their own appointments (5 specializations). Doctors see the full queue read-only. Stored with date, time, reason, and doctor details.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82836" y="2308168"/>
            <a:ext cx="4191000" cy="12895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7428" y="234072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96068" y="23081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A23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Tracking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276365" y="2713137"/>
            <a:ext cx="3505200" cy="74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Patient-private vitals log: weight, BP, glucose, symptoms, dated entries. Last 10 entries shown on dashboard. Strictly scoped to the owner.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0163" y="3703320"/>
            <a:ext cx="4191002" cy="1302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98179" y="3671455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🚑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78823" y="3731583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A23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Services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64800" y="4095124"/>
            <a:ext cx="3477770" cy="86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booking, SOS emergency alert, hire-a-nurse, mental wellness — all accessible to patients and doctors; linked to appointment flow.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82836" y="3703320"/>
            <a:ext cx="4191000" cy="12895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70288" y="373158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396068" y="3731583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A23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50348" y="4112859"/>
            <a:ext cx="3477768" cy="826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profile (bio, phone, address, profile picture). Auto-created via Django signal on user save. Role badge displayed in UI.</a:t>
            </a:r>
            <a:endParaRPr lang="en-US" sz="1400" dirty="0"/>
          </a:p>
        </p:txBody>
      </p:sp>
      <p:sp>
        <p:nvSpPr>
          <p:cNvPr id="28" name="Rectangle: Diagonal Corners Rounded 27">
            <a:extLst>
              <a:ext uri="{FF2B5EF4-FFF2-40B4-BE49-F238E27FC236}">
                <a16:creationId xmlns:a16="http://schemas.microsoft.com/office/drawing/2014/main" id="{6B6F4AFE-A4AE-9A39-5ED2-F9E4403B148D}"/>
              </a:ext>
            </a:extLst>
          </p:cNvPr>
          <p:cNvSpPr/>
          <p:nvPr/>
        </p:nvSpPr>
        <p:spPr>
          <a:xfrm>
            <a:off x="564352" y="170710"/>
            <a:ext cx="2088793" cy="529498"/>
          </a:xfrm>
          <a:prstGeom prst="round2DiagRect">
            <a:avLst/>
          </a:prstGeom>
          <a:solidFill>
            <a:srgbClr val="C2566B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Modules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65760" y="837091"/>
            <a:ext cx="274320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65760" y="837091"/>
            <a:ext cx="2743200" cy="411480"/>
          </a:xfrm>
          <a:prstGeom prst="rect">
            <a:avLst/>
          </a:prstGeom>
          <a:solidFill>
            <a:srgbClr val="C2566B"/>
          </a:solidFill>
          <a:ln w="12700">
            <a:solidFill>
              <a:srgbClr val="C256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882811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CustomUser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2920" y="1833787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837091"/>
            <a:ext cx="274320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837091"/>
            <a:ext cx="2743200" cy="411480"/>
          </a:xfrm>
          <a:prstGeom prst="rect">
            <a:avLst/>
          </a:prstGeom>
          <a:solidFill>
            <a:srgbClr val="6E8669"/>
          </a:solidFill>
          <a:ln w="12700">
            <a:solidFill>
              <a:srgbClr val="6E8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882811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UserProfile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29000" y="1833787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29000" y="2080675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0" y="837091"/>
            <a:ext cx="274320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837091"/>
            <a:ext cx="2743200" cy="411480"/>
          </a:xfrm>
          <a:prstGeom prst="rect">
            <a:avLst/>
          </a:prstGeom>
          <a:solidFill>
            <a:srgbClr val="9B6A1F"/>
          </a:solidFill>
          <a:ln w="12700">
            <a:solidFill>
              <a:srgbClr val="9B6A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7648" y="882811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355080" y="2574451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3013363"/>
            <a:ext cx="274320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013363"/>
            <a:ext cx="2743200" cy="411480"/>
          </a:xfrm>
          <a:prstGeom prst="rect">
            <a:avLst/>
          </a:prstGeom>
          <a:solidFill>
            <a:srgbClr val="3A6A80"/>
          </a:solidFill>
          <a:ln w="12700">
            <a:solidFill>
              <a:srgbClr val="3A6A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3059083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3291840" y="3013363"/>
            <a:ext cx="274320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91840" y="3013363"/>
            <a:ext cx="2743200" cy="411480"/>
          </a:xfrm>
          <a:prstGeom prst="rect">
            <a:avLst/>
          </a:prstGeom>
          <a:solidFill>
            <a:srgbClr val="6B4A8A"/>
          </a:solidFill>
          <a:ln w="12700">
            <a:solidFill>
              <a:srgbClr val="6B4A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01568" y="3059083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HealthRecord</a:t>
            </a:r>
            <a:endParaRPr lang="en-US" dirty="0"/>
          </a:p>
        </p:txBody>
      </p:sp>
      <p:sp>
        <p:nvSpPr>
          <p:cNvPr id="49" name="Rectangle: Diagonal Corners Rounded 48">
            <a:extLst>
              <a:ext uri="{FF2B5EF4-FFF2-40B4-BE49-F238E27FC236}">
                <a16:creationId xmlns:a16="http://schemas.microsoft.com/office/drawing/2014/main" id="{98CF629A-9971-3B4D-917C-9DFADC45A4BE}"/>
              </a:ext>
            </a:extLst>
          </p:cNvPr>
          <p:cNvSpPr/>
          <p:nvPr/>
        </p:nvSpPr>
        <p:spPr>
          <a:xfrm>
            <a:off x="564352" y="170710"/>
            <a:ext cx="4568757" cy="529498"/>
          </a:xfrm>
          <a:prstGeom prst="round2DiagRect">
            <a:avLst/>
          </a:prstGeom>
          <a:solidFill>
            <a:srgbClr val="C2566B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Models (ERD Summary)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D82EAF3-7B41-3989-7C65-1ACA4E8575A5}"/>
              </a:ext>
            </a:extLst>
          </p:cNvPr>
          <p:cNvSpPr txBox="1"/>
          <p:nvPr/>
        </p:nvSpPr>
        <p:spPr>
          <a:xfrm>
            <a:off x="475488" y="1309867"/>
            <a:ext cx="23788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id</a:t>
            </a:r>
          </a:p>
          <a:p>
            <a:r>
              <a:rPr lang="en-US" sz="1400" dirty="0"/>
              <a:t>username</a:t>
            </a:r>
          </a:p>
          <a:p>
            <a:r>
              <a:rPr lang="en-US" sz="1400" dirty="0"/>
              <a:t>email (unique)</a:t>
            </a:r>
          </a:p>
          <a:p>
            <a:r>
              <a:rPr lang="en-US" sz="1400" dirty="0" err="1"/>
              <a:t>passworduser_type</a:t>
            </a:r>
            <a:r>
              <a:rPr lang="en-US" sz="1400" dirty="0"/>
              <a:t>  [</a:t>
            </a:r>
            <a:r>
              <a:rPr lang="en-US" sz="1400" dirty="0" err="1"/>
              <a:t>patient|doctor</a:t>
            </a:r>
            <a:r>
              <a:rPr lang="en-US" sz="1400" dirty="0"/>
              <a:t>]</a:t>
            </a:r>
          </a:p>
          <a:p>
            <a:r>
              <a:rPr lang="en-US" sz="1400" dirty="0" err="1"/>
              <a:t>is_staff</a:t>
            </a:r>
            <a:r>
              <a:rPr lang="en-US" sz="1400" dirty="0"/>
              <a:t> / </a:t>
            </a:r>
            <a:r>
              <a:rPr lang="en-US" sz="1400" dirty="0" err="1"/>
              <a:t>is_superuser</a:t>
            </a:r>
            <a:endParaRPr 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95CAC02-3BC6-F602-F709-B624AFFAC240}"/>
              </a:ext>
            </a:extLst>
          </p:cNvPr>
          <p:cNvSpPr txBox="1"/>
          <p:nvPr/>
        </p:nvSpPr>
        <p:spPr>
          <a:xfrm>
            <a:off x="3401568" y="1294904"/>
            <a:ext cx="23788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id</a:t>
            </a:r>
          </a:p>
          <a:p>
            <a:r>
              <a:rPr lang="en-US" sz="1400" dirty="0"/>
              <a:t>user  →  </a:t>
            </a:r>
            <a:r>
              <a:rPr lang="en-US" sz="1400" dirty="0" err="1"/>
              <a:t>CustomUser</a:t>
            </a:r>
            <a:r>
              <a:rPr lang="en-US" sz="1400" dirty="0"/>
              <a:t> (1-to-1)</a:t>
            </a:r>
          </a:p>
          <a:p>
            <a:r>
              <a:rPr lang="en-US" sz="1400" dirty="0"/>
              <a:t>bio</a:t>
            </a:r>
          </a:p>
          <a:p>
            <a:r>
              <a:rPr lang="en-US" sz="1400" dirty="0"/>
              <a:t>phone</a:t>
            </a:r>
          </a:p>
          <a:p>
            <a:r>
              <a:rPr lang="en-US" sz="1400" dirty="0"/>
              <a:t>address</a:t>
            </a:r>
          </a:p>
          <a:p>
            <a:r>
              <a:rPr lang="en-US" sz="1400" dirty="0" err="1"/>
              <a:t>profile_picture</a:t>
            </a:r>
            <a:endParaRPr lang="en-US" sz="1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DAFAFC6-B832-12C3-5845-BEB1F961C996}"/>
              </a:ext>
            </a:extLst>
          </p:cNvPr>
          <p:cNvSpPr txBox="1"/>
          <p:nvPr/>
        </p:nvSpPr>
        <p:spPr>
          <a:xfrm>
            <a:off x="6463423" y="1255589"/>
            <a:ext cx="23788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id</a:t>
            </a:r>
          </a:p>
          <a:p>
            <a:r>
              <a:rPr lang="en-US" sz="1400" dirty="0" err="1"/>
              <a:t>medicine_name</a:t>
            </a:r>
            <a:endParaRPr lang="en-US" sz="1400" dirty="0"/>
          </a:p>
          <a:p>
            <a:r>
              <a:rPr lang="en-US" sz="1400" dirty="0"/>
              <a:t>description</a:t>
            </a:r>
          </a:p>
          <a:p>
            <a:r>
              <a:rPr lang="en-US" sz="1400" dirty="0"/>
              <a:t>price</a:t>
            </a:r>
          </a:p>
          <a:p>
            <a:r>
              <a:rPr lang="en-US" sz="1400" dirty="0"/>
              <a:t>image</a:t>
            </a:r>
          </a:p>
          <a:p>
            <a:r>
              <a:rPr lang="en-US" sz="1400" dirty="0" err="1"/>
              <a:t>created_by</a:t>
            </a:r>
            <a:r>
              <a:rPr lang="en-US" sz="1400" dirty="0"/>
              <a:t>  →  </a:t>
            </a:r>
            <a:r>
              <a:rPr lang="en-US" sz="1400" dirty="0" err="1"/>
              <a:t>CustomUser</a:t>
            </a:r>
            <a:endParaRPr lang="en-US" sz="1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801C37A-D3AF-FFA6-3DD7-FCD531D8D2E0}"/>
              </a:ext>
            </a:extLst>
          </p:cNvPr>
          <p:cNvSpPr txBox="1"/>
          <p:nvPr/>
        </p:nvSpPr>
        <p:spPr>
          <a:xfrm>
            <a:off x="475488" y="3470563"/>
            <a:ext cx="23788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id</a:t>
            </a:r>
          </a:p>
          <a:p>
            <a:r>
              <a:rPr lang="en-US" sz="1400" dirty="0"/>
              <a:t>user  →  </a:t>
            </a:r>
            <a:r>
              <a:rPr lang="en-US" sz="1400" dirty="0" err="1"/>
              <a:t>CustomUser</a:t>
            </a:r>
            <a:endParaRPr lang="en-US" sz="1400" dirty="0"/>
          </a:p>
          <a:p>
            <a:r>
              <a:rPr lang="en-US" sz="1400" dirty="0" err="1"/>
              <a:t>full_name</a:t>
            </a:r>
            <a:r>
              <a:rPr lang="en-US" sz="1400" dirty="0"/>
              <a:t>, email</a:t>
            </a:r>
          </a:p>
          <a:p>
            <a:r>
              <a:rPr lang="en-US" sz="1400" dirty="0" err="1"/>
              <a:t>doctor_name</a:t>
            </a:r>
            <a:endParaRPr lang="en-US" sz="1400" dirty="0"/>
          </a:p>
          <a:p>
            <a:r>
              <a:rPr lang="en-US" sz="1400" dirty="0"/>
              <a:t>specialization</a:t>
            </a:r>
          </a:p>
          <a:p>
            <a:r>
              <a:rPr lang="en-US" sz="1400" dirty="0"/>
              <a:t>date, time, reason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A68D53B-B9F6-6FAA-C109-C0CC8E523985}"/>
              </a:ext>
            </a:extLst>
          </p:cNvPr>
          <p:cNvSpPr txBox="1"/>
          <p:nvPr/>
        </p:nvSpPr>
        <p:spPr>
          <a:xfrm>
            <a:off x="3401568" y="3502519"/>
            <a:ext cx="23788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id</a:t>
            </a:r>
          </a:p>
          <a:p>
            <a:r>
              <a:rPr lang="en-US" sz="1400" dirty="0"/>
              <a:t>user  →  </a:t>
            </a:r>
            <a:r>
              <a:rPr lang="en-US" sz="1400" dirty="0" err="1"/>
              <a:t>CustomUser</a:t>
            </a:r>
            <a:endParaRPr lang="en-US" sz="1400" dirty="0"/>
          </a:p>
          <a:p>
            <a:r>
              <a:rPr lang="en-US" sz="1400" dirty="0"/>
              <a:t>date</a:t>
            </a:r>
          </a:p>
          <a:p>
            <a:r>
              <a:rPr lang="en-US" sz="1400" dirty="0"/>
              <a:t>weight, </a:t>
            </a:r>
            <a:r>
              <a:rPr lang="en-US" sz="1400" dirty="0" err="1"/>
              <a:t>blood_pressure</a:t>
            </a:r>
            <a:endParaRPr lang="en-US" sz="1400" dirty="0"/>
          </a:p>
          <a:p>
            <a:r>
              <a:rPr lang="en-US" sz="1400" dirty="0"/>
              <a:t>glucose</a:t>
            </a:r>
          </a:p>
          <a:p>
            <a:r>
              <a:rPr lang="en-US" sz="1400" dirty="0"/>
              <a:t>symptoms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0" y="1024128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21792" y="1115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52144" y="1115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A23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fees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1792" y="1572768"/>
            <a:ext cx="23957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Monthly/quarterly plans — Basic (free), Premium, Family — unlocking appointment limits, nursing sessions, and advanced health tracking.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55848" y="1024128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115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050792" y="1115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A23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model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20440" y="1572768"/>
            <a:ext cx="23957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commission on doctor consultations, nurse bookings and medicine orders placed through MatriNest's partner network.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54496" y="1024128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19088" y="1115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949440" y="1115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A23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onboarding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19088" y="1572768"/>
            <a:ext cx="23957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Hospitals, clinics, pharmacies and diagnostic centers pay to list their services and access the verified patient user base.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9312" y="30175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23918" y="3429000"/>
            <a:ext cx="418019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upper-middle / high-income mothers in Dhaka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3918" y="3758184"/>
            <a:ext cx="408875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mothers 25–35 years old, nuclear families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3918" y="4087368"/>
            <a:ext cx="447280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and nurses seeking verified digital patient access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3919" y="4416552"/>
            <a:ext cx="431042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Pharmacies and clinics looking for a digital marketplace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0" y="2999232"/>
            <a:ext cx="1828800" cy="822960"/>
          </a:xfrm>
          <a:prstGeom prst="rect">
            <a:avLst/>
          </a:prstGeom>
          <a:solidFill>
            <a:srgbClr val="F4DFE2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138928" y="30449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23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10K+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138928" y="34198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Mothers — Dhaka, Year 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40880" y="2999232"/>
            <a:ext cx="1828800" cy="822960"/>
          </a:xfrm>
          <a:prstGeom prst="rect">
            <a:avLst/>
          </a:prstGeom>
          <a:solidFill>
            <a:srgbClr val="F4DFE2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50608" y="30449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23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3→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150608" y="34198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in Year 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0" y="3959352"/>
            <a:ext cx="1828800" cy="822960"/>
          </a:xfrm>
          <a:prstGeom prst="rect">
            <a:avLst/>
          </a:prstGeom>
          <a:solidFill>
            <a:srgbClr val="F4DFE2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38928" y="40050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23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138928" y="437997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access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040880" y="3959352"/>
            <a:ext cx="1828800" cy="822960"/>
          </a:xfrm>
          <a:prstGeom prst="rect">
            <a:avLst/>
          </a:prstGeom>
          <a:solidFill>
            <a:srgbClr val="F4DFE2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150608" y="40050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23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150608" y="437997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specializations</a:t>
            </a:r>
            <a:endParaRPr lang="en-US" sz="1200" dirty="0"/>
          </a:p>
        </p:txBody>
      </p:sp>
      <p:sp>
        <p:nvSpPr>
          <p:cNvPr id="33" name="Rectangle: Diagonal Corners Rounded 32">
            <a:extLst>
              <a:ext uri="{FF2B5EF4-FFF2-40B4-BE49-F238E27FC236}">
                <a16:creationId xmlns:a16="http://schemas.microsoft.com/office/drawing/2014/main" id="{5CDA46E2-FC80-00F0-FE73-87D345CD08B8}"/>
              </a:ext>
            </a:extLst>
          </p:cNvPr>
          <p:cNvSpPr/>
          <p:nvPr/>
        </p:nvSpPr>
        <p:spPr>
          <a:xfrm>
            <a:off x="564353" y="170710"/>
            <a:ext cx="2296612" cy="529498"/>
          </a:xfrm>
          <a:prstGeom prst="round2DiagRect">
            <a:avLst/>
          </a:prstGeom>
          <a:solidFill>
            <a:srgbClr val="C2566B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9329925"/>
              </p:ext>
            </p:extLst>
          </p:nvPr>
        </p:nvGraphicFramePr>
        <p:xfrm>
          <a:off x="457201" y="818734"/>
          <a:ext cx="8458200" cy="3474720"/>
        </p:xfrm>
        <a:graphic>
          <a:graphicData uri="http://schemas.openxmlformats.org/drawingml/2006/table">
            <a:tbl>
              <a:tblPr/>
              <a:tblGrid>
                <a:gridCol w="1797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6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34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15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8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0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3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MatriNest</a:t>
                      </a:r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3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Sukhee App</a:t>
                      </a:r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3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Praava Health</a:t>
                      </a:r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3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Arogga</a:t>
                      </a:r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3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Chaldal</a:t>
                      </a:r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3F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9B6A1F"/>
                          </a:solidFill>
                        </a:rPr>
                        <a:t>Maternal focus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E8669"/>
                          </a:solidFill>
                        </a:rPr>
                        <a:t>✅ Core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E8669"/>
                          </a:solidFill>
                        </a:rPr>
                        <a:t>✅ Yes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B6A1F"/>
                          </a:solidFill>
                        </a:rPr>
                        <a:t>⚠️ Partial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A23F54"/>
                          </a:solidFill>
                        </a:rPr>
                        <a:t>❌ No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A23F54"/>
                          </a:solidFill>
                        </a:rPr>
                        <a:t>❌ No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9B6A1F"/>
                          </a:solidFill>
                        </a:rPr>
                        <a:t>Appointment booking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E8669"/>
                          </a:solidFill>
                        </a:rPr>
                        <a:t>✅ Yes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A23F54"/>
                          </a:solidFill>
                        </a:rPr>
                        <a:t>❌ No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E8669"/>
                          </a:solidFill>
                        </a:rPr>
                        <a:t>✅ Yes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A23F54"/>
                          </a:solidFill>
                        </a:rPr>
                        <a:t>❌ No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A23F54"/>
                          </a:solidFill>
                        </a:rPr>
                        <a:t>❌ No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9B6A1F"/>
                          </a:solidFill>
                        </a:rPr>
                        <a:t>Medicine delivery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E8669"/>
                          </a:solidFill>
                        </a:rPr>
                        <a:t>✅ Yes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A23F54"/>
                          </a:solidFill>
                        </a:rPr>
                        <a:t>❌ No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A23F54"/>
                          </a:solidFill>
                        </a:rPr>
                        <a:t>❌ No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E8669"/>
                          </a:solidFill>
                        </a:rPr>
                        <a:t>✅ Yes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B6A1F"/>
                          </a:solidFill>
                        </a:rPr>
                        <a:t>⚠️ Groceries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9B6A1F"/>
                          </a:solidFill>
                        </a:rPr>
                        <a:t>Health tracking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E8669"/>
                          </a:solidFill>
                        </a:rPr>
                        <a:t>✅ Yes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B6A1F"/>
                          </a:solidFill>
                        </a:rPr>
                        <a:t>⚠️ Basic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A23F54"/>
                          </a:solidFill>
                        </a:rPr>
                        <a:t>❌ No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A23F54"/>
                          </a:solidFill>
                        </a:rPr>
                        <a:t>❌ No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A23F54"/>
                          </a:solidFill>
                        </a:rPr>
                        <a:t>❌ No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9B6A1F"/>
                          </a:solidFill>
                        </a:rPr>
                        <a:t>Emergency / SOS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E8669"/>
                          </a:solidFill>
                        </a:rPr>
                        <a:t>✅ Yes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A23F54"/>
                          </a:solidFill>
                        </a:rPr>
                        <a:t>❌ No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A23F54"/>
                          </a:solidFill>
                        </a:rPr>
                        <a:t>❌ No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A23F54"/>
                          </a:solidFill>
                        </a:rPr>
                        <a:t>❌ No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A23F54"/>
                          </a:solidFill>
                        </a:rPr>
                        <a:t>❌ No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9B6A1F"/>
                          </a:solidFill>
                        </a:rPr>
                        <a:t>Mental wellness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E8669"/>
                          </a:solidFill>
                        </a:rPr>
                        <a:t>✅ Yes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A23F54"/>
                          </a:solidFill>
                        </a:rPr>
                        <a:t>❌ No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B6A1F"/>
                          </a:solidFill>
                        </a:rPr>
                        <a:t>⚠️ Partial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A23F54"/>
                          </a:solidFill>
                        </a:rPr>
                        <a:t>❌ No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A23F54"/>
                          </a:solidFill>
                        </a:rPr>
                        <a:t>❌ No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9B6A1F"/>
                          </a:solidFill>
                        </a:rPr>
                        <a:t>Baby care (BabyNest)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E8669"/>
                          </a:solidFill>
                        </a:rPr>
                        <a:t>✅ Yes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B6A1F"/>
                          </a:solidFill>
                        </a:rPr>
                        <a:t>⚠️ Basic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A23F54"/>
                          </a:solidFill>
                        </a:rPr>
                        <a:t>❌ No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A23F54"/>
                          </a:solidFill>
                        </a:rPr>
                        <a:t>❌ No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A23F54"/>
                          </a:solidFill>
                        </a:rPr>
                        <a:t>❌ No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49730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MatriNest is the only platform combining maternal-specific appointment booking, health tracking, emergency SOS and baby care in a single product.</a:t>
            </a:r>
            <a:endParaRPr lang="en-US" sz="1150" dirty="0"/>
          </a:p>
        </p:txBody>
      </p:sp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5BCF52F8-BE75-DC98-B844-FA472E0D285A}"/>
              </a:ext>
            </a:extLst>
          </p:cNvPr>
          <p:cNvSpPr/>
          <p:nvPr/>
        </p:nvSpPr>
        <p:spPr>
          <a:xfrm>
            <a:off x="564353" y="170710"/>
            <a:ext cx="2878502" cy="529498"/>
          </a:xfrm>
          <a:prstGeom prst="round2DiagRect">
            <a:avLst/>
          </a:prstGeom>
          <a:solidFill>
            <a:srgbClr val="C2566B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Competitor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200400" y="2571404"/>
            <a:ext cx="164592" cy="54864"/>
          </a:xfrm>
          <a:prstGeom prst="rect">
            <a:avLst/>
          </a:prstGeom>
          <a:solidFill>
            <a:srgbClr val="C9B9B2"/>
          </a:solidFill>
          <a:ln w="12700">
            <a:solidFill>
              <a:srgbClr val="C9B9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52916"/>
            <a:ext cx="2697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8224"/>
            <a:ext cx="2697480" cy="563604"/>
          </a:xfrm>
          <a:prstGeom prst="rect">
            <a:avLst/>
          </a:prstGeom>
          <a:solidFill>
            <a:srgbClr val="C2566B"/>
          </a:solidFill>
          <a:ln w="12700">
            <a:solidFill>
              <a:srgbClr val="C256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844042"/>
            <a:ext cx="2587752" cy="529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(Now)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1792" y="1501556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Core Django backend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2105060"/>
            <a:ext cx="2532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Role-based auth (patient/doctor/admin)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" y="2708564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Medicines, appointments, health tracking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3312068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Emergency + ambulance + nurse pages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" y="3915572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Approved frontend design system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99048" y="2571404"/>
            <a:ext cx="164592" cy="54864"/>
          </a:xfrm>
          <a:prstGeom prst="rect">
            <a:avLst/>
          </a:prstGeom>
          <a:solidFill>
            <a:srgbClr val="C9B9B2"/>
          </a:solidFill>
          <a:ln w="12700">
            <a:solidFill>
              <a:srgbClr val="C9B9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55848" y="952916"/>
            <a:ext cx="2697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55848" y="828224"/>
            <a:ext cx="2697480" cy="563604"/>
          </a:xfrm>
          <a:prstGeom prst="rect">
            <a:avLst/>
          </a:prstGeom>
          <a:solidFill>
            <a:srgbClr val="6E8669"/>
          </a:solidFill>
          <a:ln w="12700">
            <a:solidFill>
              <a:srgbClr val="6E8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65576" y="844042"/>
            <a:ext cx="2487168" cy="529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520440" y="1501556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BabyNest module (growth, vaccination)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20440" y="2105060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Subscription &amp; billing system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20440" y="2708564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Doctor matching algorithm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20440" y="3312068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Real-time ambulance dispatch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20440" y="3915572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Push notifications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54496" y="952916"/>
            <a:ext cx="2697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8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54496" y="828224"/>
            <a:ext cx="2697480" cy="563604"/>
          </a:xfrm>
          <a:prstGeom prst="rect">
            <a:avLst/>
          </a:prstGeom>
          <a:solidFill>
            <a:srgbClr val="9B6A1F"/>
          </a:solidFill>
          <a:ln w="12700">
            <a:solidFill>
              <a:srgbClr val="9B6A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64224" y="828224"/>
            <a:ext cx="2487168" cy="545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419088" y="1501556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AI-powered pregnancy risk alerts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19088" y="2105060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Mobile app (React Native)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19088" y="2708564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Expand: Chattogram, Sylhet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19088" y="3312068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Partner API for hospitals/pharmacies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19088" y="3915572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Analytics dashboard for admin</a:t>
            </a:r>
            <a:endParaRPr lang="en-US" sz="1400" dirty="0"/>
          </a:p>
        </p:txBody>
      </p:sp>
      <p:sp>
        <p:nvSpPr>
          <p:cNvPr id="30" name="Rectangle: Diagonal Corners Rounded 29">
            <a:extLst>
              <a:ext uri="{FF2B5EF4-FFF2-40B4-BE49-F238E27FC236}">
                <a16:creationId xmlns:a16="http://schemas.microsoft.com/office/drawing/2014/main" id="{465E332E-CB9F-A73B-BFF8-10F7CEAB3EA8}"/>
              </a:ext>
            </a:extLst>
          </p:cNvPr>
          <p:cNvSpPr/>
          <p:nvPr/>
        </p:nvSpPr>
        <p:spPr>
          <a:xfrm>
            <a:off x="564353" y="170710"/>
            <a:ext cx="1472265" cy="529498"/>
          </a:xfrm>
          <a:prstGeom prst="round2DiagRect">
            <a:avLst/>
          </a:prstGeom>
          <a:solidFill>
            <a:srgbClr val="C2566B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2286000"/>
            <a:ext cx="4114800" cy="4114800"/>
          </a:xfrm>
          <a:prstGeom prst="ellipse">
            <a:avLst/>
          </a:prstGeom>
          <a:solidFill>
            <a:srgbClr val="C2566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926080"/>
            <a:ext cx="2926080" cy="2926080"/>
          </a:xfrm>
          <a:prstGeom prst="ellipse">
            <a:avLst/>
          </a:prstGeom>
          <a:solidFill>
            <a:srgbClr val="C2566B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39" y="640080"/>
            <a:ext cx="372332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39" y="1491043"/>
            <a:ext cx="8595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F4D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মাতৃNest — One soft place to land,</a:t>
            </a:r>
            <a:r>
              <a:rPr lang="en-US" sz="2600" dirty="0"/>
              <a:t> </a:t>
            </a:r>
            <a:r>
              <a:rPr lang="en-US" sz="2600" i="1" dirty="0">
                <a:solidFill>
                  <a:srgbClr val="F4D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bump to babyhood.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 flipV="1">
            <a:off x="548639" y="2313432"/>
            <a:ext cx="8402479" cy="64008"/>
          </a:xfrm>
          <a:prstGeom prst="rect">
            <a:avLst/>
          </a:prstGeom>
          <a:solidFill>
            <a:srgbClr val="DDA15E"/>
          </a:solidFill>
          <a:ln w="12700">
            <a:solidFill>
              <a:srgbClr val="DDA1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7860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D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Full-stack Django app — built from scratch, tested, running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03580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D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Role-based access: patient, doctor, admin — all enforced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49300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D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Clean, approved frontend — matched to brand identity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95020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D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Scalable architecture — ready for Phase 2 features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B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Trinity  ·  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1435</Words>
  <Application>Microsoft Office PowerPoint</Application>
  <PresentationFormat>On-screen Show (16:9)</PresentationFormat>
  <Paragraphs>275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মাতৃNest — Project Report Presentation</dc:title>
  <dc:subject>PptxGenJS Presentation</dc:subject>
  <dc:creator>Team Trinity</dc:creator>
  <cp:lastModifiedBy>Tanjina Akter</cp:lastModifiedBy>
  <cp:revision>3</cp:revision>
  <dcterms:created xsi:type="dcterms:W3CDTF">2026-07-05T17:10:01Z</dcterms:created>
  <dcterms:modified xsi:type="dcterms:W3CDTF">2026-07-08T07:09:47Z</dcterms:modified>
</cp:coreProperties>
</file>